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6d68df01c14397" /><Relationship Type="http://schemas.openxmlformats.org/officeDocument/2006/relationships/extended-properties" Target="/docProps/app.xml" Id="R2817c150a8d24a17" /><Relationship Type="http://schemas.openxmlformats.org/officeDocument/2006/relationships/officeDocument" Target="/ppt/presentation.xml" Id="R8e206d143b4f4a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883afea7514917"/>
  </p:sldMasterIdLst>
  <p:notesMasterIdLst>
    <p:notesMasterId xmlns:r="http://schemas.openxmlformats.org/officeDocument/2006/relationships" r:id="R6d5a52e1a38d43c9"/>
  </p:notesMasterIdLst>
  <p:sldIdLst>
    <p:sldId xmlns:r="http://schemas.openxmlformats.org/officeDocument/2006/relationships" id="256" r:id="Rcf303fc104d14aaf"/>
    <p:sldId xmlns:r="http://schemas.openxmlformats.org/officeDocument/2006/relationships" id="257" r:id="R88e38a3a349f4a54"/>
    <p:sldId xmlns:r="http://schemas.openxmlformats.org/officeDocument/2006/relationships" id="258" r:id="R5eb7192a852440e2"/>
    <p:sldId xmlns:r="http://schemas.openxmlformats.org/officeDocument/2006/relationships" id="259" r:id="R103beb0e6f4c406f"/>
    <p:sldId xmlns:r="http://schemas.openxmlformats.org/officeDocument/2006/relationships" id="260" r:id="R9098bbded9124f91"/>
    <p:sldId xmlns:r="http://schemas.openxmlformats.org/officeDocument/2006/relationships" id="261" r:id="R7d975f80325543db"/>
    <p:sldId xmlns:r="http://schemas.openxmlformats.org/officeDocument/2006/relationships" id="262" r:id="R11c4d8101c9f40ec"/>
    <p:sldId xmlns:r="http://schemas.openxmlformats.org/officeDocument/2006/relationships" id="263" r:id="R9e420ca9bfd34bce"/>
    <p:sldId xmlns:r="http://schemas.openxmlformats.org/officeDocument/2006/relationships" id="264" r:id="R98c8c474f8834360"/>
    <p:sldId xmlns:r="http://schemas.openxmlformats.org/officeDocument/2006/relationships" id="265" r:id="R3cfb3770d9b14f2c"/>
    <p:sldId xmlns:r="http://schemas.openxmlformats.org/officeDocument/2006/relationships" id="266" r:id="R2986eb9f33954d15"/>
    <p:sldId xmlns:r="http://schemas.openxmlformats.org/officeDocument/2006/relationships" id="267" r:id="R37b183a87c354f1d"/>
    <p:sldId xmlns:r="http://schemas.openxmlformats.org/officeDocument/2006/relationships" id="268" r:id="R865664b8cee943ac"/>
    <p:sldId xmlns:r="http://schemas.openxmlformats.org/officeDocument/2006/relationships" id="269" r:id="R2dee8047e1f4419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883afea7514917" /><Relationship Type="http://schemas.openxmlformats.org/officeDocument/2006/relationships/theme" Target="/ppt/theme/theme1.xml" Id="R367d5efa055843b9" /><Relationship Type="http://schemas.openxmlformats.org/officeDocument/2006/relationships/notesMaster" Target="/ppt/notesMasters/notesMaster1.xml" Id="R6d5a52e1a38d43c9" /><Relationship Type="http://schemas.openxmlformats.org/officeDocument/2006/relationships/presProps" Target="/ppt/presProps.xml" Id="R030f39e61d6248a6" /><Relationship Type="http://schemas.openxmlformats.org/officeDocument/2006/relationships/viewProps" Target="/ppt/viewProps.xml" Id="R5d3d591c63e04e3b" /><Relationship Type="http://schemas.openxmlformats.org/officeDocument/2006/relationships/tableStyles" Target="/ppt/tableStyles.xml" Id="R06f1fc2c649e44fa" /><Relationship Type="http://schemas.openxmlformats.org/officeDocument/2006/relationships/slide" Target="/ppt/slides/slide1.xml" Id="Rcf303fc104d14aaf" /><Relationship Type="http://schemas.openxmlformats.org/officeDocument/2006/relationships/slide" Target="/ppt/slides/slide2.xml" Id="R88e38a3a349f4a54" /><Relationship Type="http://schemas.openxmlformats.org/officeDocument/2006/relationships/slide" Target="/ppt/slides/slide3.xml" Id="R5eb7192a852440e2" /><Relationship Type="http://schemas.openxmlformats.org/officeDocument/2006/relationships/slide" Target="/ppt/slides/slide4.xml" Id="R103beb0e6f4c406f" /><Relationship Type="http://schemas.openxmlformats.org/officeDocument/2006/relationships/slide" Target="/ppt/slides/slide5.xml" Id="R9098bbded9124f91" /><Relationship Type="http://schemas.openxmlformats.org/officeDocument/2006/relationships/slide" Target="/ppt/slides/slide6.xml" Id="R7d975f80325543db" /><Relationship Type="http://schemas.openxmlformats.org/officeDocument/2006/relationships/slide" Target="/ppt/slides/slide7.xml" Id="R11c4d8101c9f40ec" /><Relationship Type="http://schemas.openxmlformats.org/officeDocument/2006/relationships/slide" Target="/ppt/slides/slide8.xml" Id="R9e420ca9bfd34bce" /><Relationship Type="http://schemas.openxmlformats.org/officeDocument/2006/relationships/slide" Target="/ppt/slides/slide9.xml" Id="R98c8c474f8834360" /><Relationship Type="http://schemas.openxmlformats.org/officeDocument/2006/relationships/slide" Target="/ppt/slides/slide10.xml" Id="R3cfb3770d9b14f2c" /><Relationship Type="http://schemas.openxmlformats.org/officeDocument/2006/relationships/slide" Target="/ppt/slides/slide11.xml" Id="R2986eb9f33954d15" /><Relationship Type="http://schemas.openxmlformats.org/officeDocument/2006/relationships/slide" Target="/ppt/slides/slide12.xml" Id="R37b183a87c354f1d" /><Relationship Type="http://schemas.openxmlformats.org/officeDocument/2006/relationships/slide" Target="/ppt/slides/slide13.xml" Id="R865664b8cee943ac" /><Relationship Type="http://schemas.openxmlformats.org/officeDocument/2006/relationships/slide" Target="/ppt/slides/slide14.xml" Id="R2dee8047e1f441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46dd2eb83d248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63b391d6b14ae2" /><Relationship Type="http://schemas.openxmlformats.org/officeDocument/2006/relationships/notesMaster" Target="/ppt/notesMasters/notesMaster1.xml" Id="Rea7619e9a0f24f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6a87817f594491" /><Relationship Type="http://schemas.openxmlformats.org/officeDocument/2006/relationships/notesMaster" Target="/ppt/notesMasters/notesMaster1.xml" Id="R556ae366e5ad4d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1eb954b64949f4" /><Relationship Type="http://schemas.openxmlformats.org/officeDocument/2006/relationships/notesMaster" Target="/ppt/notesMasters/notesMaster1.xml" Id="Rae973903a21148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4a082310ba4665" /><Relationship Type="http://schemas.openxmlformats.org/officeDocument/2006/relationships/notesMaster" Target="/ppt/notesMasters/notesMaster1.xml" Id="R3dc77cef88b543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7349f2b0b3406a" /><Relationship Type="http://schemas.openxmlformats.org/officeDocument/2006/relationships/notesMaster" Target="/ppt/notesMasters/notesMaster1.xml" Id="R34f7938ad2d442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57db5d76b64da7" /><Relationship Type="http://schemas.openxmlformats.org/officeDocument/2006/relationships/notesMaster" Target="/ppt/notesMasters/notesMaster1.xml" Id="R4bd7af19b97141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3b96b3084149ee" /><Relationship Type="http://schemas.openxmlformats.org/officeDocument/2006/relationships/notesMaster" Target="/ppt/notesMasters/notesMaster1.xml" Id="R3c024abd87a94a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6ef8cbf2d249c9" /><Relationship Type="http://schemas.openxmlformats.org/officeDocument/2006/relationships/notesMaster" Target="/ppt/notesMasters/notesMaster1.xml" Id="R6000683e5e6f43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24df2f9f3d46d7" /><Relationship Type="http://schemas.openxmlformats.org/officeDocument/2006/relationships/notesMaster" Target="/ppt/notesMasters/notesMaster1.xml" Id="R5ad5f308345e46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7a8ce8ac72447c" /><Relationship Type="http://schemas.openxmlformats.org/officeDocument/2006/relationships/notesMaster" Target="/ppt/notesMasters/notesMaster1.xml" Id="Reb0aaf903b6847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3dce9cab0f415d" /><Relationship Type="http://schemas.openxmlformats.org/officeDocument/2006/relationships/notesMaster" Target="/ppt/notesMasters/notesMaster1.xml" Id="R7e8b40c35983449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4c4f16349444d8" /><Relationship Type="http://schemas.openxmlformats.org/officeDocument/2006/relationships/notesMaster" Target="/ppt/notesMasters/notesMaster1.xml" Id="Ree0e4ad24b5443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1ce41391ab4cc5" /><Relationship Type="http://schemas.openxmlformats.org/officeDocument/2006/relationships/notesMaster" Target="/ppt/notesMasters/notesMaster1.xml" Id="Rc72d6dc886c94d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43c244c41c84a22" /><Relationship Type="http://schemas.openxmlformats.org/officeDocument/2006/relationships/notesMaster" Target="/ppt/notesMasters/notesMaster1.xml" Id="R02be8ac6d0ef4c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b01ca9a882492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055827a967e4f76" /><Relationship Type="http://schemas.openxmlformats.org/officeDocument/2006/relationships/slideLayout" Target="/ppt/slideLayouts/slideLayout2.xml" Id="R89529f8daa8846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529f8daa8846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31e314212b4686" /><Relationship Type="http://schemas.openxmlformats.org/officeDocument/2006/relationships/notesSlide" Target="/ppt/notesSlides/notesSlide1.xml" Id="R254ebc318b124d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ceda39b30e4ee6" /><Relationship Type="http://schemas.openxmlformats.org/officeDocument/2006/relationships/notesSlide" Target="/ppt/notesSlides/notesSlide2.xml" Id="R88e0c35e3e8e41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2a13656b294e57" /><Relationship Type="http://schemas.openxmlformats.org/officeDocument/2006/relationships/notesSlide" Target="/ppt/notesSlides/notesSlide3.xml" Id="R9d513ad748c74e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4a1648592f4214" /><Relationship Type="http://schemas.openxmlformats.org/officeDocument/2006/relationships/notesSlide" Target="/ppt/notesSlides/notesSlide4.xml" Id="R4f34b6a49de44e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ebf522ca51412f" /><Relationship Type="http://schemas.openxmlformats.org/officeDocument/2006/relationships/notesSlide" Target="/ppt/notesSlides/notesSlide5.xml" Id="Rc01bcff631da44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d6862f9c954607" /><Relationship Type="http://schemas.openxmlformats.org/officeDocument/2006/relationships/notesSlide" Target="/ppt/notesSlides/notesSlide6.xml" Id="R9b5712e9fc8c44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5cc9251f1844eb" /><Relationship Type="http://schemas.openxmlformats.org/officeDocument/2006/relationships/notesSlide" Target="/ppt/notesSlides/notesSlide7.xml" Id="R8484d3159f3844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d04fdd9a1948cc" /><Relationship Type="http://schemas.openxmlformats.org/officeDocument/2006/relationships/notesSlide" Target="/ppt/notesSlides/notesSlide8.xml" Id="R039f028628a54f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7707bb220d4fbc" /><Relationship Type="http://schemas.openxmlformats.org/officeDocument/2006/relationships/notesSlide" Target="/ppt/notesSlides/notesSlide9.xml" Id="Rbc2eb8567b1f42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398d3d538a46c1" /><Relationship Type="http://schemas.openxmlformats.org/officeDocument/2006/relationships/notesSlide" Target="/ppt/notesSlides/notesSlide10.xml" Id="Rbdf63fc3b93b42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0a5d14660c4585" /><Relationship Type="http://schemas.openxmlformats.org/officeDocument/2006/relationships/notesSlide" Target="/ppt/notesSlides/notesSlide11.xml" Id="Rc2be32caca4f4ae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e1211f6cad4192" /><Relationship Type="http://schemas.openxmlformats.org/officeDocument/2006/relationships/notesSlide" Target="/ppt/notesSlides/notesSlide12.xml" Id="Rdae213b93ee5406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e77fab70884dfb" /><Relationship Type="http://schemas.openxmlformats.org/officeDocument/2006/relationships/notesSlide" Target="/ppt/notesSlides/notesSlide13.xml" Id="Rcbdb0c70e146427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76d870305040c8" /><Relationship Type="http://schemas.openxmlformats.org/officeDocument/2006/relationships/notesSlide" Target="/ppt/notesSlides/notesSlide14.xml" Id="Rba1073b595ef4b2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B2E2F9-0FC4-46CB-87B8-CFF0F2D5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6CB06-5F0B-49DC-B868-BF6B24E8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4CB83-44F9-4FA8-8D96-62219A95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0"/>
            <a:ext cx="5143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B5A2C-244C-4320-BE69-BB54746B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742950"/>
            <a:ext cx="3810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8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2266A-9967-446F-AA64-3289625B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0970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11430">
            <a:solidFill>
              <a:srgbClr val="B9C6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04260-146D-4DDF-B9D9-26947D59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05000"/>
            <a:ext cx="14859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11430">
            <a:solidFill>
              <a:srgbClr val="AAB8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EBBEB-366B-45D4-9A33-252CFC77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1981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21137-322B-4A4A-8D48-DE852D87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76400"/>
            <a:ext cx="4762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4F8B6B-0CEF-442D-A356-62EA793E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571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Sparse-view CT reconstruction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04B8E-4BBC-494C-80D8-BB914282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533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Model-based, learned and hybrid methods for accelerated computed tomography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86553E-81F5-4FFE-B8FA-D6C6EC49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E7C86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TpV / IPPy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F8D15-E642-4346-BB7B-4EB70C6B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385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15C9B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15C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15C9B"/>
                </a:solidFill>
                <a:latin typeface="Aptos"/>
                <a:ea typeface="Aptos"/>
                <a:cs typeface="Aptos"/>
              </a:rPr>
              <a:t>ResUNet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731A9F-AEFA-4A02-B30C-82B655F0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385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7925"/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92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925"/>
                </a:solidFill>
                <a:latin typeface="Aptos"/>
                <a:ea typeface="Aptos"/>
                <a:cs typeface="Aptos"/>
              </a:rPr>
              <a:t>Method 3 TBD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7355DB-6D44-45BD-B048-D0E2ABBC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Computational Imaging Project - Group B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Presentation draft with placeholders for final runs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50903F-695C-41C1-8DCE-4F784946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Project presentation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6C8A10-2D91-4FAC-86E6-98584E7A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4571662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7292C1-1965-4039-BE3B-3372F17A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40922-040C-446E-9384-8D9858B3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3FFF99-42EB-4351-BD57-59B3F709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343650"/>
            <a:ext cx="12039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C4D87-6038-4DC6-919F-A07B0ADE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SPECIFICATION ALIGNMENT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B6189-0C0B-4FA3-94F8-0F32858C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What the project must show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AB00FD-1CC6-4D75-B02E-32F8967B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Computational Imaging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572C8-2055-4EA9-A2E5-7C98AE0A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BA0E7-CEC8-4BBD-A3E9-4203AB6C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BD2AD-20FF-4D1A-AA4E-EF5EBED5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476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20B16-BBAF-404F-BA52-94E33077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Inverse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151144-6BED-40D5-B448-F62EEE22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29146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Reconstruct CT images from sparse projection data.</a:t>
            </a:r>
          </a:p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Use the same acquisition model across methods.</a:t>
            </a:r>
          </a:p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Report behavior as the number of views decreases.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CA770A-55FD-4DFE-8570-E5AD9B60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7640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E42FDB-4A66-46D2-84BA-39012FA0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76400"/>
            <a:ext cx="476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5F3C1A-F202-49C6-B25C-1264144F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478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Methods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F3B547-22F7-4AB2-9974-BC01701D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00275"/>
            <a:ext cx="29146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At least three reconstruction approaches are expected.</a:t>
            </a:r>
          </a:p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Current notebooks cover TpV and ResUNet.</a:t>
            </a:r>
          </a:p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A third method remains a planned notebook slot.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6B42BF-B3D9-4595-9CE0-3D681096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7640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2AFFDE-CC37-4F04-8ED7-C0FDAE50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76400"/>
            <a:ext cx="476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D0886E-A7D8-4701-8A6C-7D234B68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478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DC6288-EA4C-4635-9FB1-788CDC4B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00275"/>
            <a:ext cx="29146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Compare against ground truth slices.</a:t>
            </a:r>
          </a:p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Show quantitative metrics and representative images.</a:t>
            </a:r>
          </a:p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Discuss artifacts, robustness and computational cost.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BE0E38-C0B6-4D46-A315-06D22AB8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10200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Final numerical values are intentionally left as placeholders until all notebooks have been run end-to-end.</a:t>
            </a:r>
          </a:p>
        </p:txBody>
      </p:sp>
    </p:spTree>
    <p:extLst>
      <p:ext uri="{BB962C8B-B14F-4D97-AF65-F5344CB8AC3E}">
        <p14:creationId xmlns:p14="http://schemas.microsoft.com/office/powerpoint/2010/main" val="94163245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5E927F-D4F2-4B12-8FF7-B20F24AA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ECB49-C96B-41F8-9E81-C2DD0D95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944C8-C5CE-4F2F-8212-CB0F812A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343650"/>
            <a:ext cx="12039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CE255-F80C-4926-A850-A0C0A588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PROBLEM FORMULATION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5581A-34A0-47DD-93F7-73A56348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Tomographic forward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79C4D-BF16-4A4A-AF48-F7E1BFBB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Computational Imaging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D6232-DC7C-41BE-A5C8-811EDCC5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C7E6B2-4F27-40B8-969E-969E05AC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E7C8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1B3ACE-62A3-42F0-A62D-404E86AE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9825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Clean slice 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18613-BDEA-4E68-BE9C-F42725B6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5430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Mayo CT image</a:t>
            </a:r>
          </a:p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256 x 256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51B6C6-455F-45E8-86CA-2FEB85B1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09875"/>
            <a:ext cx="80010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678"/>
          </a:solidFill>
          <a:ln xmlns:a="http://schemas.openxmlformats.org/drawingml/2006/main" w="0">
            <a:solidFill>
              <a:srgbClr val="5D66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D7B71C-5460-40FD-8B1B-43C1DF6E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051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D667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E086F-0D3A-4171-835C-96F7FE54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6695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5C9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D65B97-6F14-49BA-B182-B1E46371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09825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Projector 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197F34-5D55-4761-9418-040E52D6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05100"/>
            <a:ext cx="17335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IPPy CTProjector</a:t>
            </a:r>
          </a:p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parallel geometry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D21FB7-1521-4741-B369-2CFF4345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09875"/>
            <a:ext cx="80010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678"/>
          </a:solidFill>
          <a:ln xmlns:a="http://schemas.openxmlformats.org/drawingml/2006/main" w="0">
            <a:solidFill>
              <a:srgbClr val="5D66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BE817B-A773-4345-9588-8E295C1B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051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D667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C5E14F-EC1F-417A-A737-3EA25575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66950"/>
            <a:ext cx="2133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792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4139DF-AE54-46E3-9913-4B87E5A0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09825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Sparse sinogram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1A08BE-F15F-4F69-AB9A-CCE4D8E7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05100"/>
            <a:ext cx="1866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views: 180, 90, 60, 45</a:t>
            </a:r>
          </a:p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Gaussian noise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159343-D663-4702-A55F-5A1EE3C5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09875"/>
            <a:ext cx="80010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678"/>
          </a:solidFill>
          <a:ln xmlns:a="http://schemas.openxmlformats.org/drawingml/2006/main" w="0">
            <a:solidFill>
              <a:srgbClr val="5D66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A15EF7-A14A-49B2-91B2-6E52BE06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051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D667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5D6A69-FD31-4800-9C85-B9BA37C3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266950"/>
            <a:ext cx="1619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F8A5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1FE516-AE0E-45E0-85BC-28DFDFD8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09825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Reconstruction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49A638-E0B5-44AE-9BB8-9E920E65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705100"/>
            <a:ext cx="13525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x_hat from each method</a:t>
            </a:r>
          </a:p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compared to 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2DD36D-ABD8-46EE-A886-10FDA64E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44005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03C241-749F-4D21-AFBF-63A0D90D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C093A0-3454-4F05-9107-972EA15E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43400"/>
            <a:ext cx="398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Measurement equation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DB85E7-405C-4B04-BD64-45EE7B2A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95825"/>
            <a:ext cx="3981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y_delta = K x + eta, with eta modelling acquisition noise.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B741D8-47C6-4DB0-B3E5-45300BF5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44005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723BF3-C0FB-4560-8E5C-E4447DB6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95531E-D279-4F41-9682-7FA203C4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43400"/>
            <a:ext cx="398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Central comparison question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E7EFF8-D977-4CC5-BC30-5016E75F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95825"/>
            <a:ext cx="3981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How do classical regularization and learned priors trade image quality, artifacts and runtime under missing-angle data?</a:t>
            </a:r>
          </a:p>
        </p:txBody>
      </p:sp>
    </p:spTree>
    <p:extLst>
      <p:ext uri="{BB962C8B-B14F-4D97-AF65-F5344CB8AC3E}">
        <p14:creationId xmlns:p14="http://schemas.microsoft.com/office/powerpoint/2010/main" val="3690218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6CC768-FDCE-4B37-9288-31D8D568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4D67F-E361-4472-B6A0-6A6F070B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87AB1-D3B4-4073-8407-05A3365A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343650"/>
            <a:ext cx="12039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6CC29-B7B5-4820-ADCD-1EC404B4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IMPLEMENTATION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7EB01-1DB5-490C-8F8E-95482918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Notebook pipeline and artifacts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707E9-F1F5-470C-9DA4-D3717E96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Computational Imaging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15B646-EB50-4766-87A9-2122E882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0DDCA-8E0E-4FD6-8B66-8707A414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476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FD8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3883E6-C085-440C-BF62-3BCBD0F8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954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638BA-53F9-4F46-ACA2-F5961EE9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4307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11E092-9B31-4165-B9BB-DF477571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685925"/>
            <a:ext cx="3924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Data and degradation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F87F0-E9FB-4304-A23B-18868289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19300"/>
            <a:ext cx="39243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Load CT slices, normalize image range, generate sparse-view sinograms and save reusable tensors.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EAB1DE-970A-49F0-89E2-3BE7D1DB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76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FD8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A6B506-C4D2-4E8C-BDCE-FF6D3006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954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25"/>
          </a:solidFill>
          <a:ln xmlns:a="http://schemas.openxmlformats.org/drawingml/2006/main" w="0">
            <a:solidFill>
              <a:srgbClr val="D9792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FA01E1-6840-4153-A5F8-0A21EBC7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4307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C6F7D8-B32F-42BB-831B-652F055C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85925"/>
            <a:ext cx="3924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TpV reconstruction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BA2B43-E220-488D-A61B-E757D007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19300"/>
            <a:ext cx="39243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Run IPPy Chambolle-Pock TpV on the test split for each view count. Store raw solution, display image, metrics and convergence.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F57FFA-B1A1-4ADE-8CBD-CC84694C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476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FD8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A24E36-FC79-40A9-823D-39780879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671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9B"/>
          </a:solidFill>
          <a:ln xmlns:a="http://schemas.openxmlformats.org/drawingml/2006/main" w="0">
            <a:solidFill>
              <a:srgbClr val="315C9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2A8990-C697-4103-A130-B11C7A9A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9032D3-BA8B-434A-94FF-62EFA9E0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57575"/>
            <a:ext cx="3924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Generalized ResUNet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5E6C77-9278-4083-BFDC-A6F63531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90950"/>
            <a:ext cx="39243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Use IPPy FBP reconstructions as network input, train IPPy UNet with residual blocks and checkpoint latest weights each epoch.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0E28B5-D992-456A-AF37-3978E3D0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95650"/>
            <a:ext cx="476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FD8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78A398-0200-45F5-8CE3-762A9CE3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671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A57"/>
          </a:solidFill>
          <a:ln xmlns:a="http://schemas.openxmlformats.org/drawingml/2006/main" w="0">
            <a:solidFill>
              <a:srgbClr val="4F8A5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925FD1-2001-40F4-B146-08DC2908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1472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FCC195-2BF9-445E-8370-EB02A7DF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57575"/>
            <a:ext cx="3924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Final comparison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78A0CB-043D-4413-9AB8-186F2A65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90950"/>
            <a:ext cx="39243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Load method outputs on identical test samples, compute comparable PSNR/SSIM and export tables, panels and discussion figures.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A024E6-25C7-4BAE-B428-4AC39444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149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64B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64B45"/>
                </a:solidFill>
                <a:latin typeface="Aptos"/>
                <a:ea typeface="Aptos"/>
                <a:cs typeface="Aptos"/>
              </a:rPr>
              <a:t>Reserved slot: notebook 03 for the additional method required by the specification.</a:t>
            </a:r>
          </a:p>
        </p:txBody>
      </p:sp>
    </p:spTree>
    <p:extLst>
      <p:ext uri="{BB962C8B-B14F-4D97-AF65-F5344CB8AC3E}">
        <p14:creationId xmlns:p14="http://schemas.microsoft.com/office/powerpoint/2010/main" val="1035339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7419F9-065A-49C5-BADE-FD22553B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7C014-F419-4EEB-B9C1-19DABBB2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759E9-D281-4AAA-9126-7D92816F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343650"/>
            <a:ext cx="12039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B0539-6680-44AF-815E-E08952B6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MODEL-BASED RECONSTRUCTION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FFB38-6F64-49B4-B5A6-5B99DF2F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Method 1: Total p-Variation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949E2-C3DD-4A27-B7F2-F30CB387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Computational Imaging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8C5C3-FCA7-4FA8-98FA-DA94E8EC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E5D14E-C262-4B29-B078-16ADD9B7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5715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CEE58-CDAD-4108-B262-BB2FBE87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4310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x_hat = argmin_x 0.5 ||Kx - y_delta||_2^2 + lambda TpV_p(x)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123A9-303A-4E21-9D5B-C8835AB5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00200"/>
            <a:ext cx="3981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52AF13-D9A0-4AC7-BD1C-E5147571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00200"/>
            <a:ext cx="47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1E22B5-997B-4578-B14E-739298FE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771650"/>
            <a:ext cx="3562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IPPY components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024FC0-0DD9-4188-BB47-43E0D16C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24075"/>
            <a:ext cx="35623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operators.CTProjector</a:t>
            </a:r>
          </a:p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solvers.ChambollePockTpVUnconstrained</a:t>
            </a:r>
          </a:p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info['PSNR'] and info['SSIM'] as authoritative metrics</a:t>
            </a:r>
          </a:p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info['obj'] and info['residues'] for convergence plots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A6525-C58A-4AB9-8E2F-CD5EBB64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Why this method is useful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EBA430-E792-4EB0-B49F-27A5F16D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52197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Explicitly encodes edge-preserving regularity.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Does not require training data.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Useful baseline for sparse-view artifacts and convergence behavior.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Computational cost and parameter sensitivity must be discussed.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06928F-A781-495A-8CC6-1DA7119A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62600"/>
            <a:ext cx="971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Parameters to fill after final calibration: lambda = TBD, p = TBD, maxiter = TBD.</a:t>
            </a:r>
          </a:p>
        </p:txBody>
      </p:sp>
    </p:spTree>
    <p:extLst>
      <p:ext uri="{BB962C8B-B14F-4D97-AF65-F5344CB8AC3E}">
        <p14:creationId xmlns:p14="http://schemas.microsoft.com/office/powerpoint/2010/main" val="6717825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0BF520-1DAA-48BC-A771-5166A43A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63CD4-0560-4D9F-9C58-442F5904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79747-36C6-422A-991C-18364A9D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343650"/>
            <a:ext cx="12039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1D461-7352-489F-9BAD-F6B040F0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LEARNING-BASED RECONSTRUCTION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90961-99BA-4F4F-9ACF-AF544C48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Method 2: generalized ResUNet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3C19D-775F-4460-A5A9-30FD004C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Computational Imaging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706AD-5762-40FC-A77F-7E269781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293CC7-4BA7-490B-9F06-C1B5FEEA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619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792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3F138-B759-4ED7-AA44-C0FB34D3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33575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Sinogram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B2795-862F-4C2D-BA2E-AD4C3A71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28850"/>
            <a:ext cx="13525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view count</a:t>
            </a:r>
          </a:p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embedded in 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2D2D7C-F658-4039-908E-3B03F645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95525"/>
            <a:ext cx="68580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678"/>
          </a:solidFill>
          <a:ln xmlns:a="http://schemas.openxmlformats.org/drawingml/2006/main" w="0">
            <a:solidFill>
              <a:srgbClr val="5D66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B56EDA-86A5-4BE7-9040-CA148A0E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907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D667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3B8CA4-229F-40E6-95C8-E7FF3546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90700"/>
            <a:ext cx="1695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E7C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192CC5-A7A9-48E2-9725-C1DB8AFF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3357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IPPY FBP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71F318-FC5F-4C29-BAFE-E62E881D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28850"/>
            <a:ext cx="1428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analytic proxy</a:t>
            </a:r>
          </a:p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for the image domain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617D64-6B54-4511-BB22-9ABDE9D7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95525"/>
            <a:ext cx="68580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678"/>
          </a:solidFill>
          <a:ln xmlns:a="http://schemas.openxmlformats.org/drawingml/2006/main" w="0">
            <a:solidFill>
              <a:srgbClr val="5D66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C17CA4-670F-4AA6-BD1E-5A048977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907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D667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802B69-037C-4B48-A29D-81432F39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17907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5C9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90427E-D743-4CC4-9608-D3F8C0AB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3357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IPPY UNet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61F8C0-A28E-4BB9-BC91-771B0F27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28850"/>
            <a:ext cx="15240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ResDownBlock</a:t>
            </a:r>
          </a:p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ResUpBlock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754279-8554-4391-B128-DA217F5B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95525"/>
            <a:ext cx="68580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678"/>
          </a:solidFill>
          <a:ln xmlns:a="http://schemas.openxmlformats.org/drawingml/2006/main" w="0">
            <a:solidFill>
              <a:srgbClr val="5D66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356E3B-0335-49B5-BF6B-5B744A49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907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D667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791355-805D-411B-BD7D-189A0D28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790700"/>
            <a:ext cx="165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F8A5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1EB449-F110-4B2A-9CCE-AA3C2021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33575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x_hat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C37224-DCF0-46DB-86EE-457CB580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28850"/>
            <a:ext cx="13906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sigmoid output</a:t>
            </a:r>
          </a:p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clamped [0, 1]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784AEF-4CA2-4E68-B616-DD1D3DE2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86150"/>
            <a:ext cx="31623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5B61AE-1FD1-4872-AB90-2349109E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861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982D6D-8595-4817-9B43-651FFADC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Training objective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23266E-83BC-473F-BA26-0A53C70A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0025"/>
            <a:ext cx="2743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MSE between predicted reconstruction and clean target. Metrics are computed on the final network output, without per-image renormalization.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56460A-3979-438F-9B0D-99C67530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86150"/>
            <a:ext cx="31623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20BB49-1285-4DFF-9044-C2850023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861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CCEFAB-5C7A-4D8C-8423-83283083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5760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Checkpoint behavior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C35587-30DD-4DCB-87BF-71B6A53A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10025"/>
            <a:ext cx="2743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Latest checkpoint is saved at the end of every epoch and can be used immediately by the test cell.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0CFECF-207A-4CFD-AE74-381CF7A6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86150"/>
            <a:ext cx="31623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0B3A69-7901-43A1-AEF4-2D8CD338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861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5C425C-8A03-461B-84DA-E3BF95EF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5760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Values to insert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78D876-FC38-49BA-B654-64ECB87A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10025"/>
            <a:ext cx="2743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Epochs = TBD</a:t>
            </a:r>
          </a:p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batch size = TBD</a:t>
            </a:r>
          </a:p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learning rate = TBD</a:t>
            </a:r>
          </a:p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base channels = TBD</a:t>
            </a:r>
          </a:p>
        </p:txBody>
      </p:sp>
    </p:spTree>
    <p:extLst>
      <p:ext uri="{BB962C8B-B14F-4D97-AF65-F5344CB8AC3E}">
        <p14:creationId xmlns:p14="http://schemas.microsoft.com/office/powerpoint/2010/main" val="13813890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953B86-8666-43B5-898D-0893EAC6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EFC84-4C18-44EE-802A-E360A758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6A98A-2661-44CB-9388-CAEFFBB1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343650"/>
            <a:ext cx="12039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9DC9A-C286-4745-A3B6-A4A360B7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REQUIRED ADDITIONAL APPROACH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4B0BE8-3BF7-4605-B7FB-ACA79E0A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Method 3: reserved notebook slot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A6867-C082-4E51-BCD1-B8235F8C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Computational Imaging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CD910-4F34-45AD-9C14-6B229BA0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A9D3D-5900-49F1-8E6D-EBD2FDE1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4000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CE7B8-B4D5-43F3-BBEC-9113EEAF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476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4735A-80B7-4F46-854C-9115DAB8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3581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Recommended direction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5F205-B97E-4FBC-8F71-03EA49F6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28825"/>
            <a:ext cx="35814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Create notebook 03 for a distinct method family.</a:t>
            </a:r>
          </a:p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Prefer an approach already supported by IPPy if feasible.</a:t>
            </a:r>
          </a:p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Keep the same data contract: sinogram input, clean image target, common metrics.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205927-070C-424D-859E-7877B020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562100"/>
            <a:ext cx="58864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C3752E-0906-4062-B0DC-2D673558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562100"/>
            <a:ext cx="5886450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B63"/>
          </a:solidFill>
          <a:ln xmlns:a="http://schemas.openxmlformats.org/drawingml/2006/main" w="0">
            <a:solidFill>
              <a:srgbClr val="075B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EB82B2-979C-41B6-B20C-9D4DC278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638300"/>
            <a:ext cx="1809750" cy="490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Candidate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817B44-9285-4CCE-9282-C09C8687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38300"/>
            <a:ext cx="1809750" cy="490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IPPY anchor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ABE3F4-8380-45EC-B863-C5B05A88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638300"/>
            <a:ext cx="1809750" cy="490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it would add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3CB05C-C7D7-44A7-AD82-8C6983C0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43138"/>
            <a:ext cx="1809750" cy="490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Learned primal-dual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FC883F-712D-4BAB-9EAF-EC361261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43138"/>
            <a:ext cx="1809750" cy="490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hybrid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EC3C62-1419-44A3-8E94-426DC680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43138"/>
            <a:ext cx="1809750" cy="490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Iterative learned updates in measurement and image domains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9C5F55-6106-4AF6-A7DA-58C3A5B6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71775"/>
            <a:ext cx="5886450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F2EEC4-526E-4DA7-BB4B-3E57F512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47975"/>
            <a:ext cx="1809750" cy="490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Diffusion prior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F1B0CA-4BA4-49CF-BCC0-0F0EA6EF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47975"/>
            <a:ext cx="1809750" cy="490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nn.diffusion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701F8A-5F04-4192-A32E-499BFDF0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47975"/>
            <a:ext cx="1809750" cy="490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Generative prior for sharper texture under sparse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126816-AB42-4D2B-A9FD-B6766CFD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52813"/>
            <a:ext cx="1809750" cy="490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FBP + denoiser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C97E0-5782-4E36-B42F-20EFABF2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52813"/>
            <a:ext cx="1809750" cy="490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nn / utilities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EC4368-0359-411D-94CD-E9C33F5D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52813"/>
            <a:ext cx="1809750" cy="490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Simple learned post-processing baseline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39AD8A-4E13-4CD3-9D6B-49E8F4D8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562100"/>
            <a:ext cx="9525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D8A402-3A87-4999-9AAD-791E0031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62100"/>
            <a:ext cx="9525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DEF74D-FB02-4AD9-AC9F-131938DB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66938"/>
            <a:ext cx="588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FE3E05-5A38-4B96-A2DC-9CCA0D3D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71775"/>
            <a:ext cx="588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A86AC3-A2E3-42AC-B946-AF8E5400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76613"/>
            <a:ext cx="588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FEEB68-918C-4DC8-807E-71452ACE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81500"/>
            <a:ext cx="588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E3A66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3FE6E8-5C51-4556-A623-29401A26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591050"/>
            <a:ext cx="531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92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925"/>
                </a:solidFill>
                <a:latin typeface="Aptos"/>
                <a:ea typeface="Aptos"/>
                <a:cs typeface="Aptos"/>
              </a:rPr>
              <a:t>Decision placeholder: final method = TBD. Results table and visual panels already reserve columns for it.</a:t>
            </a:r>
          </a:p>
        </p:txBody>
      </p:sp>
    </p:spTree>
    <p:extLst>
      <p:ext uri="{BB962C8B-B14F-4D97-AF65-F5344CB8AC3E}">
        <p14:creationId xmlns:p14="http://schemas.microsoft.com/office/powerpoint/2010/main" val="21385874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93ADCD-B87E-4E13-95BD-A33907C0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6904F-D164-411A-834B-A6CEE4B2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2A5B4-26A2-4366-B0BB-8970B3B1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343650"/>
            <a:ext cx="12039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4AFE8-D25F-4F09-A021-5B73940B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HOW RESULTS WILL BE REPORTED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8B5A8-338F-4161-91DA-D92E8B90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Experimental protocol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4B863-DEF6-4B24-9075-C8FE637B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Computational Imaging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5F132-C517-4C08-889C-EEAA8C03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D25BA-C27A-4582-AB2B-611F496F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49530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525C46-1130-43F2-A44B-62AA3D0A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B63"/>
          </a:solidFill>
          <a:ln xmlns:a="http://schemas.openxmlformats.org/drawingml/2006/main" w="0">
            <a:solidFill>
              <a:srgbClr val="075B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71C2D4-BDB1-40CC-A2D4-148B167C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Dimension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E02BB9-5F0F-4039-A74E-1FE629FF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3830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Choice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DAC42-F747-4E23-BD0E-BB5D082D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Geometry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C9033C-2653-4A3B-93F3-B625A768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7645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Parallel CT, detector size 256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6CAB45-0EAD-42A3-9EC4-DBE321A2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34F5DF-017B-41C8-9362-8CC611BF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Image size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BC5F4F-32CA-4905-8707-EC2F53BE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1460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256 x 256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6C247-E238-4B22-B25A-A0BCEE5B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Views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DB04C5-663B-469E-81EE-A149DE60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5275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180, 90, 60, 45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C7F7A8-DDEC-4C25-A4A1-84DD1727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D40B0F-2179-4186-B072-67FCA5A0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Data split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78B6AD-F166-4DDA-A607-D0C6403C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9090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Validation/test according to processed tensors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02EC8A-8F87-4B66-BEC3-F7305AE0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F5E255-198D-44B9-83B0-C3DCB459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2905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PSNR, SSIM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7CC88F-98BF-4A56-9E69-2DFCE59D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6EE0E1-2686-4D12-B545-D6190148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Figures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850311-052E-4237-9484-01BD1647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6720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Ground truth, reconstruction, raw error map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4827C0-6A07-4809-8B05-59DEB863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62100"/>
            <a:ext cx="9525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33205E-DC2B-4BDA-B035-40479AE2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EC0CB4-5D95-4FA9-B306-855851BC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8DC2E1-4EF0-4254-8886-841D3B3D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438D4B-3F4A-4D2F-94E0-9C2234EA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714A99-2E40-42F9-9A4F-6692D12F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834544-294A-4622-A3DA-FCB4272F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BF4A50-3E58-45F4-9375-1AB5B342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4572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7FC335-039F-459B-A058-6167F254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C3ED97-4488-41D4-A6D2-066C5A66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33550"/>
            <a:ext cx="415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Fairness rules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11BE51-1A51-4906-9F36-CA7071AE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85975"/>
            <a:ext cx="4152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Each method uses the same sparse-view sinograms and the same selected test slices. Display normalization is allowed for visualization only.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06086F-1966-4631-8E01-B155D4F2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4572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1FFC00-59D4-4A8A-B3EE-EE917DB0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4762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B9EB79-BE65-4671-98A6-0E5A50FE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24250"/>
            <a:ext cx="415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Metric source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F00334-1AB1-40D3-8E38-5A083230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76675"/>
            <a:ext cx="4152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TpV uses PSNR/SSIM reported by IPPy solver info. ResUNet uses its clamped network output directly.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294451-DB22-4B3B-98D6-3A0BB688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791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Values to fill: selected patient/slice IDs, final noise level, final runtime measurement protocol.</a:t>
            </a:r>
          </a:p>
        </p:txBody>
      </p:sp>
    </p:spTree>
    <p:extLst>
      <p:ext uri="{BB962C8B-B14F-4D97-AF65-F5344CB8AC3E}">
        <p14:creationId xmlns:p14="http://schemas.microsoft.com/office/powerpoint/2010/main" val="189977131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DA5CBD-973B-4D64-8524-AAED45E1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04B06-0D35-487B-93E6-3DCE18BF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27FE9-E9D8-42F9-87DB-2887F134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343650"/>
            <a:ext cx="12039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FB696-6F98-455A-BA59-DB10B264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RESULTS TABLE PLACEHOLDER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7955D-D07A-4FF0-B840-F75509B2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Quantitative comparison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661BE-C947-49CD-BD57-2D58DFC0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Computational Imaging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31E1F-EB57-40DC-98EA-8CC6CA6E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4E0CF6-49C5-49FB-9586-8B44907F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744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7B088-E2F4-458F-9C9E-C83029C2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744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B63"/>
          </a:solidFill>
          <a:ln xmlns:a="http://schemas.openxmlformats.org/drawingml/2006/main" w="0">
            <a:solidFill>
              <a:srgbClr val="075B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D90CF-5392-4643-9A10-FCA960EB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19964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Views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A8743-B8DF-4289-9652-41E7C552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940" y="1504950"/>
            <a:ext cx="19964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FBP PSNR/SSIM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9C71D2-199F-42B8-8B62-946C3E9D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1504950"/>
            <a:ext cx="19964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TpV PSNR/SSIM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3718A-DA51-4555-AD14-F4B05973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0" y="1504950"/>
            <a:ext cx="19964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ResUNet PSNR/SSIM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EDB0AD-A253-485A-8B36-C1631FC6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5460" y="1504950"/>
            <a:ext cx="19964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Method 3 PSNR/SSIM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BBAE7F-ACBE-4453-8B8B-D17CD228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19964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180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621B94-D354-4CB9-A0B8-C09B40A4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940" y="2133600"/>
            <a:ext cx="19964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-- / --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90B992-3B9A-49D2-8601-61122F0A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2133600"/>
            <a:ext cx="19964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-- / --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F835B6-CA59-4F1C-953E-B8C8CC53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0" y="2133600"/>
            <a:ext cx="19964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-- / --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5EE524-8FD9-4191-AC1E-14C04EA1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5460" y="2133600"/>
            <a:ext cx="19964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-- / --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392D0E-E7DD-4012-9D4F-912601B6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10744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B4C931-7285-46EE-ACF6-86316BF3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19964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90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FAB9D7-DC8A-4F75-ABEF-FD627DFE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940" y="2762250"/>
            <a:ext cx="19964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-- / --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BD6319-75CB-4CD5-81DD-1925582C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2762250"/>
            <a:ext cx="19964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-- / --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2E1048-9844-4D46-B879-4D21C383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0" y="2762250"/>
            <a:ext cx="19964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-- / --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6D2D40-00F6-4A7D-8672-98479338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5460" y="2762250"/>
            <a:ext cx="19964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-- / --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1620CB-DFE9-4575-A85D-FEFAC3A5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19964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ACCBB4-C280-4CBE-9A57-58DF4B5C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940" y="3390900"/>
            <a:ext cx="19964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-- / --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01A762-EC65-47A1-96C6-0ABAF76C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3390900"/>
            <a:ext cx="19964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-- / --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9E1B54-8106-43F6-8B7A-6745ECAE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0" y="3390900"/>
            <a:ext cx="19964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-- / --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E1FA81-9379-4AC5-A005-5BE19C19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5460" y="3390900"/>
            <a:ext cx="19964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-- / --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0856D7-ECB9-4103-804E-EDF7E606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744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EBF24A-C97C-4E3C-A309-3C7B7AE6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9964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4D7EDD-CF87-44B8-AD79-3365C358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940" y="4019550"/>
            <a:ext cx="19964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-- / --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4DEDB6-DDC4-4E3D-B9FB-E7A71D50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4019550"/>
            <a:ext cx="19964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-- / --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300346-361E-44BA-A28F-A8AAFB34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0" y="4019550"/>
            <a:ext cx="19964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-- / --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BFD4A8-002D-4FBA-8198-FEC2E137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5460" y="4019550"/>
            <a:ext cx="19964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-- / --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B8288C-01F4-46EB-B9D6-D159A190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" y="1428750"/>
            <a:ext cx="95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34FDAC-87A0-4DD9-A468-DCCF3702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1580" y="1428750"/>
            <a:ext cx="95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79D0AE-1F47-4980-949C-4CB1F956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420" y="1428750"/>
            <a:ext cx="95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32297E-684B-4D49-960B-97F5E970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260" y="1428750"/>
            <a:ext cx="95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864599-3321-4938-855D-37F2B059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A1F7BC-2FAE-430A-8F9A-4B327AF8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369D08-BEB2-4E7A-8917-5CFD7FB8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509F77-C882-4109-B430-B009A15A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7F69A5-1EDE-4EEC-A727-33F232D8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10478">
            <a:solidFill>
              <a:srgbClr val="BAC6D6"/>
            </a:solidFill>
            <a:prstDash val="dash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A777B4-4F76-4F66-ABB6-2D7A3CBC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28384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CA875D-D0E1-44BB-A5B2-098FF61E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43550"/>
            <a:ext cx="28384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785987-7D07-4EC8-A22B-D5EC3A00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863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method by view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3B02C15-1B47-4476-9F40-0A331DE4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911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fill after final comparison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B73629D-42BC-492B-BFE1-B73FB5F2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91100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10478">
            <a:solidFill>
              <a:srgbClr val="BAC6D6"/>
            </a:solidFill>
            <a:prstDash val="dash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731F2CC-8015-42BA-A300-9B424AF4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43500"/>
            <a:ext cx="28384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333F334-B39C-4180-A0EF-15613910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543550"/>
            <a:ext cx="28384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56AE940-ED60-4547-ACEB-55CD98C0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0863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Runtime summary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E062777-F113-4436-A4C8-1070DACC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3911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seconds / slice or full test set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65B72E1-B88C-4E89-9ED7-D4E82BE9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91100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10478">
            <a:solidFill>
              <a:srgbClr val="BAC6D6"/>
            </a:solidFill>
            <a:prstDash val="dash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CE08F8D-C3C9-4644-9C8A-07FC879B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43500"/>
            <a:ext cx="28384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A6BC8AF-DA08-4E65-ACC6-0C0C11EA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543550"/>
            <a:ext cx="28384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30F95A0-1A8C-4353-9158-9DAE39D9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863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Key artifact trend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A07AAE0-24EF-44B2-9951-C6A8F8E3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911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one-sentence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77856723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4A0489-2056-4469-BBE5-3A6A00F1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F7996-04E9-4871-A5CD-2141D408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5729E-1960-497D-ACFB-F2A081D3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343650"/>
            <a:ext cx="12039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C6F29-2B72-4F90-ABEC-550F5F52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VISUAL COMPARISON PLACEHOLDER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AA219-9608-422E-B0B3-78A5477A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Representative reconstructions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5A0AC-156F-4F38-84FF-524B3B5D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Computational Imaging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14123-C848-41AB-85C2-EA44F5FF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E3B17-696F-4052-85E5-059183AF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8110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Ground truth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1C95BF-B17B-4D27-B77F-BF69F3A3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18110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TpV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403E2D-8673-4F29-9BFD-A2F446FE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8110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ResUNet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B8FDD-F87B-4168-9490-8F5FD33A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18110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Method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0A8B90-D4F6-4DDE-98C1-8A1207BA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85950"/>
            <a:ext cx="609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180 views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2A5B78-2901-4401-A67A-7610CDF1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85900"/>
            <a:ext cx="2247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10478">
            <a:solidFill>
              <a:srgbClr val="BAC6D6"/>
            </a:solidFill>
            <a:prstDash val="dash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2D103-837C-4081-9426-8A3F9E0C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38300"/>
            <a:ext cx="1943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3AF3A7-A47B-431D-A177-5155C410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1943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670461-9381-4253-A059-A9D3A882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81175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target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935998-E9A7-471D-8478-06D6AF17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85975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180 views / Ground truth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3280A2-BA4E-40E1-AD01-B5436E8F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485900"/>
            <a:ext cx="2247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10478">
            <a:solidFill>
              <a:srgbClr val="BAC6D6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DFF10C-80EA-4CD0-B7E5-BE59C828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38300"/>
            <a:ext cx="1943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B26D84-E58B-4117-9794-04624750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38400"/>
            <a:ext cx="1943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685427-8D35-4782-8ADF-F9D727A1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81175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image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3AAD29-15F4-4A2A-8AA9-3491178E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85975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180 views / TpV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1990EB-D9FD-451B-9204-67605C7A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85900"/>
            <a:ext cx="2247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10478">
            <a:solidFill>
              <a:srgbClr val="BAC6D6"/>
            </a:solidFill>
            <a:prstDash val="dash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E2D923-FB00-41C8-8F50-C3323EC0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38300"/>
            <a:ext cx="1943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1A3735-5959-4821-ACDA-A5B08E1F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38400"/>
            <a:ext cx="1943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BD11F7-7C49-4870-849B-346462F7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81175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image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DED666-D19C-4356-874C-BD9A763B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85975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180 views / ResUNet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3A9286-19E9-4493-9894-25F154CB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485900"/>
            <a:ext cx="2247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10478">
            <a:solidFill>
              <a:srgbClr val="BAC6D6"/>
            </a:solidFill>
            <a:prstDash val="dash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8366AC-0EF6-4035-B645-D4770EBC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38300"/>
            <a:ext cx="1943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68B9D4-2300-4E50-BAF4-6D4E9E17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38400"/>
            <a:ext cx="1943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9416FD-39B1-4C48-8FD8-11F25DDF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81175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image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3C77F9-E749-4A27-8771-682CF441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85975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180 views / Method 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573762-2F3F-4BF7-BE8F-778FA87A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276600"/>
            <a:ext cx="609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60 views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1F734E-3BEF-45A6-984F-77263FDC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247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10478">
            <a:solidFill>
              <a:srgbClr val="BAC6D6"/>
            </a:solidFill>
            <a:prstDash val="dash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68895D-5B67-4E7C-A226-826B7728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1943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F65903-E655-48E1-A60E-1892F44B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9050"/>
            <a:ext cx="1943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69AAC9-0599-4D91-ADA2-04182A43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71825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target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EF52F3-B800-4AB4-9DC3-525D0D8B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76625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60 views / Ground truth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AB9B4E-C77C-45F7-83ED-68D205B6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76550"/>
            <a:ext cx="2247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10478">
            <a:solidFill>
              <a:srgbClr val="BAC6D6"/>
            </a:solidFill>
            <a:prstDash val="dash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26F71F-A5E7-4235-A4A8-ED392050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28950"/>
            <a:ext cx="1943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120A99-D76D-4065-9EEF-5CEE3855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29050"/>
            <a:ext cx="1943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69261C-11C7-4A64-A290-20B526EA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71825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image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3074F1-9172-4224-BAE2-F9B44AD1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76625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60 views / TpV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1F33E4-01C3-4791-9BB1-2F876335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76550"/>
            <a:ext cx="2247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10478">
            <a:solidFill>
              <a:srgbClr val="BAC6D6"/>
            </a:solidFill>
            <a:prstDash val="dash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8F606F-5C25-439A-B827-8CEFD99B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28950"/>
            <a:ext cx="1943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B7FFD61-5507-4AAA-8BA0-6ECD0E6C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29050"/>
            <a:ext cx="1943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0DE1104-E78E-42D7-8542-9EB2A74D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71825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image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3FC230-B6FF-4811-BC37-7F2F9A8B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76625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60 views / ResUNet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684344-3145-45D1-A67E-E5A6B71B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76550"/>
            <a:ext cx="2247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10478">
            <a:solidFill>
              <a:srgbClr val="BAC6D6"/>
            </a:solidFill>
            <a:prstDash val="dash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D2E3959-89EE-4E29-B42A-86DCE295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28950"/>
            <a:ext cx="1943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CC3DDE4-1F3D-42FC-9B12-634648BE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29050"/>
            <a:ext cx="1943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E6FFC90-E7AD-40B8-BDEF-FA463388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71825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image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5743008-CCB7-4311-A287-B3E02D14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76625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60 views / Method 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8DD16DD-5E4D-4147-ABD7-3F9051D6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667250"/>
            <a:ext cx="609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45 views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D9C93A3-EA59-4E1C-AE77-00C94689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2247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10478">
            <a:solidFill>
              <a:srgbClr val="BAC6D6"/>
            </a:solidFill>
            <a:prstDash val="dash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DFF4DAC-7C3B-4279-B843-6381B2C5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19600"/>
            <a:ext cx="1943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DD3EDD3-40E3-4ED9-A6F1-EDFEDBC2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1943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66575F7-7554-4B7E-AC50-3C231D9B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62475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target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C5526F4-D00E-4281-A20F-8BBE29FA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67275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45 views / Ground truth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AE9B6A7-3072-49BF-8225-8635E7FF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67200"/>
            <a:ext cx="2247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10478">
            <a:solidFill>
              <a:srgbClr val="BAC6D6"/>
            </a:solidFill>
            <a:prstDash val="dash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E8F1595-FA06-466B-8401-135D45E1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19600"/>
            <a:ext cx="1943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F3DC51F-1007-41A7-968F-EA76FB43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219700"/>
            <a:ext cx="1943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485E032-403B-4EF3-A49A-DA01E36B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62475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image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C83F490-15DA-466A-B1FD-27814DED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67275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45 views / TpV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2EE8693-0EEE-49C7-B466-59DD47B7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2247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10478">
            <a:solidFill>
              <a:srgbClr val="BAC6D6"/>
            </a:solidFill>
            <a:prstDash val="dash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A724B8E-AB64-45D9-8E48-65FFBEC1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19600"/>
            <a:ext cx="1943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0837DA1-9553-4866-A183-E74FD88E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219700"/>
            <a:ext cx="1943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AA950D2-5707-4FD1-A743-73FFB6CF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62475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image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6E91872-C8B1-4E4D-9D4E-061F5470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67275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45 views / ResUNet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9296B45-CD5E-45D8-B264-869F8A8A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67200"/>
            <a:ext cx="2247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10478">
            <a:solidFill>
              <a:srgbClr val="BAC6D6"/>
            </a:solidFill>
            <a:prstDash val="dash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3E8BFA8-013F-4DFD-B570-9BEADB2A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19600"/>
            <a:ext cx="1943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0D9D217-F220-43C7-A6FA-5F3803F7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19700"/>
            <a:ext cx="1943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CFEFE03-47EB-4ED9-BDFB-A742E207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62475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image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49CF2FB-3780-40A4-85CA-4B97F161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67275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45 views / Method 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44AAD1C-E765-447B-B836-AD4F5DBC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191250"/>
            <a:ext cx="9563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Use this slide for reconstruction panels. Error maps can be placed in the backup or as a second visual-results slide if needed.</a:t>
            </a:r>
          </a:p>
        </p:txBody>
      </p:sp>
    </p:spTree>
    <p:extLst>
      <p:ext uri="{BB962C8B-B14F-4D97-AF65-F5344CB8AC3E}">
        <p14:creationId xmlns:p14="http://schemas.microsoft.com/office/powerpoint/2010/main" val="138092162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153162-BBE4-4463-8A3E-D99B15E0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E6D16-07E1-4C8F-B0CF-519F294E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07047-2E70-4962-80D6-EF347D3D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343650"/>
            <a:ext cx="12039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AC637-FD71-40C2-A194-C397E9A4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WHY THE RESULTS ARE TRUSTWORTHY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0D573-D5E3-46C3-A811-4A425E31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Diagnostics and convergence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CA86C-54C6-4D05-881B-73B09046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Computational Imaging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729B1-F8AB-4DA5-A0BE-85A48244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AD06F0-EEED-4DF6-9351-F7EC5137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4762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10478">
            <a:solidFill>
              <a:srgbClr val="BAC6D6"/>
            </a:solidFill>
            <a:prstDash val="dash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44A6E5-9D66-4B32-93D8-7BA92D1A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4457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4E25F9-68B8-4313-935B-B3DD8AE5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4457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E63D93-1CF6-4B93-97A2-453673ED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TpV convergence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66C138-7934-4420-A6C3-8C2A0F05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obj, residues, PSNR, SSIM by iteration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0EE49B-08A1-4E61-83ED-DCFA7385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47800"/>
            <a:ext cx="4762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10478">
            <a:solidFill>
              <a:srgbClr val="BAC6D6"/>
            </a:solidFill>
            <a:prstDash val="dash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E1C1FB-BF13-4321-BC00-9B50C4A7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00200"/>
            <a:ext cx="4457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850BD-4643-481D-8284-B13EE37E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71850"/>
            <a:ext cx="4457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9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717A99-C2AC-4280-B1D6-22818AF4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288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ResUNet training curve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625479-DFAE-4EEE-844D-FB4D694A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3365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train/validation loss across resumed epochs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CC5CF2-2FE9-4AC0-BE9C-35B50445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3860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F462B0-8A29-47CF-A328-CCC156BB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386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98136A-2920-4A3C-9C98-284920A0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005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TpV info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FCD11C-F67D-4AC3-A4ED-B17D476C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62475"/>
            <a:ext cx="274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Stored from IPPy solver output. Curves should show stable decrease of objective/residuals.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571DC0-1DC0-4C87-83A4-6541DDC3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3860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D3A34F-B956-4FE5-B6B6-32E9541A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386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C9EB69-5719-4C8E-B75C-249B259B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21005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Network checkpoint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8F99A6-1C50-4F9F-B9E8-AD51FB55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562475"/>
            <a:ext cx="274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Latest checkpoint indicates the final completed epoch used by test/evaluation.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6213FE-60EA-4EF3-963F-3806B8AE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3860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C916E4-BE9A-48F1-AB63-06BF4596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386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8568B2-501D-4567-BB13-87E18E6B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1005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Method 3 logs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9CFDD4-EFD3-4E42-B5DC-9DC3B67F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62475"/>
            <a:ext cx="274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Reserve comparable diagnostics once notebook 03 is implemented.</a:t>
            </a:r>
          </a:p>
        </p:txBody>
      </p:sp>
    </p:spTree>
    <p:extLst>
      <p:ext uri="{BB962C8B-B14F-4D97-AF65-F5344CB8AC3E}">
        <p14:creationId xmlns:p14="http://schemas.microsoft.com/office/powerpoint/2010/main" val="141429793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EA82AC-7F4C-4062-BC2B-011C6634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6F6FA-9ED6-4F27-A632-81841425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CB3E9-BDB7-48AB-8E8D-A8BB444A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343650"/>
            <a:ext cx="12039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C6655-0C65-4A5A-A336-B1EF6C2E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HOW TO READ FINAL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B5C9B-8AE4-4132-96F9-985268B0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Discussion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2E55F-2AE5-4A53-B9DB-7E4C1194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Computational Imaging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E6F65-E285-453A-B8ED-E32A2899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04B18-936A-42CD-8508-9FFBCDD2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85900"/>
            <a:ext cx="3619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4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22DC5-BF50-45F6-B6C9-85D129E5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8097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Expected trend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47A35-8B7E-4A5C-9912-BF573E29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28956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- 180 views: mild undersampling, all methods should be competitive.</a:t>
            </a:r>
          </a:p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- 90 and 60 views: regularization and learned priors become decisive.</a:t>
            </a:r>
          </a:p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- 45 views: artifacts and hallucination risk must be discussed explicitly.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EACF56-A50C-43F7-875B-5EF048A6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85900"/>
            <a:ext cx="25908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2A7F4B-867F-4C07-9280-30090D8C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8590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0B45F4-6D19-461F-84D3-04C001BA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57350"/>
            <a:ext cx="2171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TpV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CB802-BD29-4BB0-9244-9EB5B617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171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Strong interpretability and no training, but slower and parameter-sensitive.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1C3A37-C1A5-449D-B6C4-834EC151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85900"/>
            <a:ext cx="25908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4DE767-BF28-46E4-9552-41063C4C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8590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E4603A-6DDC-4EBD-B96B-A4DB93D3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57350"/>
            <a:ext cx="2171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ResUNet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029EE4-7BB8-479C-AF27-57974E6F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9775"/>
            <a:ext cx="2171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Fast inference and learned artifact removal, but quality depends on training distribution.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A4FD1E-F0C2-450F-BFFB-0CB9C546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57600"/>
            <a:ext cx="58293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E4CD39-ED68-4103-B027-A1A9D664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576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8A958B-8EF8-43C4-A249-A80A8154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29050"/>
            <a:ext cx="541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Method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703BEE-05E2-4A29-A4BD-2F2B5625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81475"/>
            <a:ext cx="5410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Use this slot to explain why the added method is conceptually different from both TpV and ResUNet.</a:t>
            </a:r>
          </a:p>
        </p:txBody>
      </p:sp>
    </p:spTree>
    <p:extLst>
      <p:ext uri="{BB962C8B-B14F-4D97-AF65-F5344CB8AC3E}">
        <p14:creationId xmlns:p14="http://schemas.microsoft.com/office/powerpoint/2010/main" val="137280273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420416-E0D6-4B96-9C89-3DEFF6E0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FF95C-D182-42D7-BDB9-9B025131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BDB28-73C8-404E-958C-6E25F5C8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343650"/>
            <a:ext cx="12039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0AB31-BC22-45C9-AD46-6A39F407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FINAL NARRATIVE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1591D-2FC6-43EA-AB66-5875446B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Conclusions and open tasks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B11D6-C896-436F-A518-9E6EE3F6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Computational Imaging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251C9-7FB7-4AD4-9A3B-454603AF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853FF-3E5B-4960-A822-C1D071FD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32385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BBCFA-3794-4F96-974D-F460D717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7625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FF42D-413E-45F9-9F0C-2815E1BF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Conclusions to 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74FA8-9095-4B42-9FD1-FF97D390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05025"/>
            <a:ext cx="28194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Which method gives the best quality at high, medium and low view counts?</a:t>
            </a:r>
          </a:p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Which artifacts remain visible?</a:t>
            </a:r>
          </a:p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Does the learned method generalize across view counts?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8E6DD2-A9C0-4CDE-924D-A08D3AAC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81150"/>
            <a:ext cx="32385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F8165E-8FEA-431B-A0A4-89BAB028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81150"/>
            <a:ext cx="47625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D22F94-ECE8-429A-9980-04676B79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5260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Before exam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36ABCA-CEE5-4D69-9A07-861A931E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05025"/>
            <a:ext cx="28194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Run all notebooks from a clean state.</a:t>
            </a:r>
          </a:p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Export final tables and panels.</a:t>
            </a:r>
          </a:p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Fill every TBD / -- value.</a:t>
            </a:r>
          </a:p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Add notebook 03 results.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E6AD74-0055-4F5E-B7C1-D5A67AA1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81150"/>
            <a:ext cx="32385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388D04-B259-4DB2-B743-D97609F9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81150"/>
            <a:ext cx="47625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67A60E-78D9-418E-B40C-3515B4B8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to emphasize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36BA1E-400F-4E74-B611-A9C8846E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05025"/>
            <a:ext cx="28194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Consistency with the CT forward model.</a:t>
            </a:r>
          </a:p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Use of IPPy components where available.</a:t>
            </a:r>
          </a:p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Metric discipline: raw outputs for metrics, display normalization only for figures.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61924E-B302-440E-BB20-FADD85B6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34000"/>
            <a:ext cx="902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Closing message placeholder: one clear statement about the best practical reconstruction strategy.</a:t>
            </a:r>
          </a:p>
        </p:txBody>
      </p:sp>
    </p:spTree>
    <p:extLst>
      <p:ext uri="{BB962C8B-B14F-4D97-AF65-F5344CB8AC3E}">
        <p14:creationId xmlns:p14="http://schemas.microsoft.com/office/powerpoint/2010/main" val="26953117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3F062A-4093-460B-995E-0FEAE3C6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AFD55-EB5F-4C47-9AC5-2695D2F8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FA88D-EFB7-4D2C-86B2-FEF5BCF7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343650"/>
            <a:ext cx="12039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4D7E5-EC79-4EFA-A0FF-FC8E01E2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BIBLIOGRAPHY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59183-BA8C-4D63-924E-84691EBA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References and appendix anchors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78E90-3708-4ADF-B078-216EFA90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Computational Imaging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C4D80-728C-44F8-A635-D034F57B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C8F2B-B4E6-4C83-B191-FEABD953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4857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D7919-F86B-4F00-B8AC-DFB84739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476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A52416-481A-43B2-B275-ADBB288B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00200"/>
            <a:ext cx="443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Core references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1935E6-6DC9-4A73-999F-5F884BCB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44386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Sparse-view CT and inverse problems: course notes and project specification.</a:t>
            </a:r>
          </a:p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Total variation / total p-variation regularization: add final citation.</a:t>
            </a:r>
          </a:p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UNet / residual learning: add course-note and original-method citations.</a:t>
            </a:r>
          </a:p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IPPY package components: add repository/package reference.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4C73F-A309-4143-99C7-EA9A499C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28750"/>
            <a:ext cx="4857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F46746-B345-4F85-81CF-E508D89B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28750"/>
            <a:ext cx="476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C5092F-0268-4DF1-B8AF-997935CA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00200"/>
            <a:ext cx="443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Backup material to prepare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58F0AC-3EDD-4EEB-845B-4496BD54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52625"/>
            <a:ext cx="44386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Full hyperparameter table.</a:t>
            </a:r>
          </a:p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Per-view convergence plots.</a:t>
            </a:r>
          </a:p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Additional error maps and crops.</a:t>
            </a:r>
          </a:p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Runtime and memory notes.</a:t>
            </a:r>
          </a:p>
          <a:p xmlns:a="http://schemas.openxmlformats.org/drawingml/2006/main">
            <a:pPr algn="l">
              <a:defRPr sz="1275" b="0">
                <a:solidFill>
                  <a:srgbClr val="5D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78"/>
                </a:solidFill>
                <a:latin typeface="Aptos"/>
                <a:ea typeface="Aptos"/>
                <a:cs typeface="Aptos"/>
              </a:rPr>
              <a:t>- Code map for oral discussion.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F14262-81D0-4C13-84E0-914E9D91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57800"/>
            <a:ext cx="9258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11430">
            <a:solidFill>
              <a:srgbClr val="A9D7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35DFC5-E763-4A13-B1DB-323432B6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5B6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5B63"/>
                </a:solidFill>
                <a:latin typeface="Aptos"/>
                <a:ea typeface="Aptos"/>
                <a:cs typeface="Aptos"/>
              </a:rPr>
              <a:t>Exam reminder: the code can be discussed, but final numerical evidence should already be inside the slides.</a:t>
            </a:r>
          </a:p>
        </p:txBody>
      </p:sp>
    </p:spTree>
    <p:extLst>
      <p:ext uri="{BB962C8B-B14F-4D97-AF65-F5344CB8AC3E}">
        <p14:creationId xmlns:p14="http://schemas.microsoft.com/office/powerpoint/2010/main" val="6530626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2026-05-24T21:16:34.9120000Z</dcterms:created>
  <dcterms:modified xsi:type="dcterms:W3CDTF">2026-05-24T21:16:34.9120000Z</dcterms:modified>
</coreProperties>
</file>